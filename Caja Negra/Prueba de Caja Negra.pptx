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72" d="100"/>
          <a:sy n="72" d="100"/>
        </p:scale>
        <p:origin x="64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B11FF123-BADE-41E8-BD7B-06EEA19CA0A3}" type="datetimeFigureOut">
              <a:rPr lang="es-419" smtClean="0"/>
              <a:t>1/8/2022</a:t>
            </a:fld>
            <a:endParaRPr lang="es-419"/>
          </a:p>
        </p:txBody>
      </p:sp>
      <p:sp>
        <p:nvSpPr>
          <p:cNvPr id="5" name="Footer Placeholder 4"/>
          <p:cNvSpPr>
            <a:spLocks noGrp="1"/>
          </p:cNvSpPr>
          <p:nvPr>
            <p:ph type="ftr" sz="quarter" idx="11"/>
          </p:nvPr>
        </p:nvSpPr>
        <p:spPr>
          <a:xfrm>
            <a:off x="1371600" y="4323845"/>
            <a:ext cx="6400800" cy="365125"/>
          </a:xfrm>
        </p:spPr>
        <p:txBody>
          <a:bodyPr/>
          <a:lstStyle/>
          <a:p>
            <a:endParaRPr lang="es-419"/>
          </a:p>
        </p:txBody>
      </p:sp>
      <p:sp>
        <p:nvSpPr>
          <p:cNvPr id="6" name="Slide Number Placeholder 5"/>
          <p:cNvSpPr>
            <a:spLocks noGrp="1"/>
          </p:cNvSpPr>
          <p:nvPr>
            <p:ph type="sldNum" sz="quarter" idx="12"/>
          </p:nvPr>
        </p:nvSpPr>
        <p:spPr>
          <a:xfrm>
            <a:off x="8077200" y="1430866"/>
            <a:ext cx="2743200" cy="365125"/>
          </a:xfrm>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493143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11FF123-BADE-41E8-BD7B-06EEA19CA0A3}" type="datetimeFigureOut">
              <a:rPr lang="es-419" smtClean="0"/>
              <a:t>1/8/2022</a:t>
            </a:fld>
            <a:endParaRPr lang="es-419"/>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380334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B11FF123-BADE-41E8-BD7B-06EEA19CA0A3}" type="datetimeFigureOut">
              <a:rPr lang="es-419" smtClean="0"/>
              <a:t>1/8/2022</a:t>
            </a:fld>
            <a:endParaRPr lang="es-419"/>
          </a:p>
        </p:txBody>
      </p:sp>
      <p:sp>
        <p:nvSpPr>
          <p:cNvPr id="5" name="Footer Placeholder 4"/>
          <p:cNvSpPr>
            <a:spLocks noGrp="1"/>
          </p:cNvSpPr>
          <p:nvPr>
            <p:ph type="ftr" sz="quarter" idx="11"/>
          </p:nvPr>
        </p:nvSpPr>
        <p:spPr>
          <a:xfrm>
            <a:off x="685800" y="381001"/>
            <a:ext cx="6991492" cy="364065"/>
          </a:xfrm>
        </p:spPr>
        <p:txBody>
          <a:bodyPr/>
          <a:lstStyle/>
          <a:p>
            <a:endParaRPr lang="es-419"/>
          </a:p>
        </p:txBody>
      </p:sp>
      <p:sp>
        <p:nvSpPr>
          <p:cNvPr id="6" name="Slide Number Placeholder 5"/>
          <p:cNvSpPr>
            <a:spLocks noGrp="1"/>
          </p:cNvSpPr>
          <p:nvPr>
            <p:ph type="sldNum" sz="quarter" idx="12"/>
          </p:nvPr>
        </p:nvSpPr>
        <p:spPr>
          <a:xfrm>
            <a:off x="10862452" y="381000"/>
            <a:ext cx="643748" cy="365125"/>
          </a:xfrm>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3422333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11FF123-BADE-41E8-BD7B-06EEA19CA0A3}" type="datetimeFigureOut">
              <a:rPr lang="es-419" smtClean="0"/>
              <a:t>1/8/2022</a:t>
            </a:fld>
            <a:endParaRPr lang="es-419"/>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2142174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0" y="3132666"/>
            <a:ext cx="5311775" cy="308601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132666"/>
            <a:ext cx="5334000" cy="308601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11FF123-BADE-41E8-BD7B-06EEA19CA0A3}" type="datetimeFigureOut">
              <a:rPr lang="es-419" smtClean="0"/>
              <a:t>1/8/2022</a:t>
            </a:fld>
            <a:endParaRPr lang="es-419"/>
          </a:p>
        </p:txBody>
      </p:sp>
      <p:sp>
        <p:nvSpPr>
          <p:cNvPr id="8" name="Footer Placeholder 7"/>
          <p:cNvSpPr>
            <a:spLocks noGrp="1"/>
          </p:cNvSpPr>
          <p:nvPr>
            <p:ph type="ftr" sz="quarter" idx="11"/>
          </p:nvPr>
        </p:nvSpPr>
        <p:spPr/>
        <p:txBody>
          <a:bodyPr/>
          <a:lstStyle/>
          <a:p>
            <a:endParaRPr lang="es-419"/>
          </a:p>
        </p:txBody>
      </p:sp>
      <p:sp>
        <p:nvSpPr>
          <p:cNvPr id="9" name="Slide Number Placeholder 8"/>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2386935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11FF123-BADE-41E8-BD7B-06EEA19CA0A3}" type="datetimeFigureOut">
              <a:rPr lang="es-419" smtClean="0"/>
              <a:t>1/8/2022</a:t>
            </a:fld>
            <a:endParaRPr lang="es-419"/>
          </a:p>
        </p:txBody>
      </p:sp>
      <p:sp>
        <p:nvSpPr>
          <p:cNvPr id="4" name="Footer Placeholder 3"/>
          <p:cNvSpPr>
            <a:spLocks noGrp="1"/>
          </p:cNvSpPr>
          <p:nvPr>
            <p:ph type="ftr" sz="quarter" idx="11"/>
          </p:nvPr>
        </p:nvSpPr>
        <p:spPr/>
        <p:txBody>
          <a:bodyPr/>
          <a:lstStyle/>
          <a:p>
            <a:endParaRPr lang="es-419"/>
          </a:p>
        </p:txBody>
      </p:sp>
      <p:sp>
        <p:nvSpPr>
          <p:cNvPr id="5" name="Slide Number Placeholder 4"/>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1232208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1FF123-BADE-41E8-BD7B-06EEA19CA0A3}" type="datetimeFigureOut">
              <a:rPr lang="es-419" smtClean="0"/>
              <a:t>1/8/2022</a:t>
            </a:fld>
            <a:endParaRPr lang="es-419"/>
          </a:p>
        </p:txBody>
      </p:sp>
      <p:sp>
        <p:nvSpPr>
          <p:cNvPr id="3" name="Footer Placeholder 2"/>
          <p:cNvSpPr>
            <a:spLocks noGrp="1"/>
          </p:cNvSpPr>
          <p:nvPr>
            <p:ph type="ftr" sz="quarter" idx="11"/>
          </p:nvPr>
        </p:nvSpPr>
        <p:spPr/>
        <p:txBody>
          <a:bodyPr/>
          <a:lstStyle/>
          <a:p>
            <a:endParaRPr lang="es-419"/>
          </a:p>
        </p:txBody>
      </p:sp>
      <p:sp>
        <p:nvSpPr>
          <p:cNvPr id="4" name="Slide Number Placeholder 3"/>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381488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11FF123-BADE-41E8-BD7B-06EEA19CA0A3}" type="datetimeFigureOut">
              <a:rPr lang="es-419" smtClean="0"/>
              <a:t>1/8/2022</a:t>
            </a:fld>
            <a:endParaRPr lang="es-419"/>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3437066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11FF123-BADE-41E8-BD7B-06EEA19CA0A3}" type="datetimeFigureOut">
              <a:rPr lang="es-419" smtClean="0"/>
              <a:t>1/8/2022</a:t>
            </a:fld>
            <a:endParaRPr lang="es-419"/>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1473307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11FF123-BADE-41E8-BD7B-06EEA19CA0A3}" type="datetimeFigureOut">
              <a:rPr lang="es-419" smtClean="0"/>
              <a:t>1/8/2022</a:t>
            </a:fld>
            <a:endParaRPr lang="es-419"/>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2473173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B11FF123-BADE-41E8-BD7B-06EEA19CA0A3}" type="datetimeFigureOut">
              <a:rPr lang="es-419" smtClean="0"/>
              <a:t>1/8/2022</a:t>
            </a:fld>
            <a:endParaRPr lang="es-419"/>
          </a:p>
        </p:txBody>
      </p:sp>
      <p:sp>
        <p:nvSpPr>
          <p:cNvPr id="6" name="Footer Placeholder 5"/>
          <p:cNvSpPr>
            <a:spLocks noGrp="1"/>
          </p:cNvSpPr>
          <p:nvPr>
            <p:ph type="ftr" sz="quarter" idx="11"/>
          </p:nvPr>
        </p:nvSpPr>
        <p:spPr>
          <a:xfrm>
            <a:off x="685800" y="379941"/>
            <a:ext cx="6991492" cy="365125"/>
          </a:xfrm>
        </p:spPr>
        <p:txBody>
          <a:bodyPr/>
          <a:lstStyle/>
          <a:p>
            <a:endParaRPr lang="es-419"/>
          </a:p>
        </p:txBody>
      </p:sp>
      <p:sp>
        <p:nvSpPr>
          <p:cNvPr id="7" name="Slide Number Placeholder 6"/>
          <p:cNvSpPr>
            <a:spLocks noGrp="1"/>
          </p:cNvSpPr>
          <p:nvPr>
            <p:ph type="sldNum" sz="quarter" idx="12"/>
          </p:nvPr>
        </p:nvSpPr>
        <p:spPr>
          <a:xfrm>
            <a:off x="10862452" y="381000"/>
            <a:ext cx="643748" cy="365125"/>
          </a:xfrm>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2356277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B11FF123-BADE-41E8-BD7B-06EEA19CA0A3}" type="datetimeFigureOut">
              <a:rPr lang="es-419" smtClean="0"/>
              <a:t>1/8/2022</a:t>
            </a:fld>
            <a:endParaRPr lang="es-419"/>
          </a:p>
        </p:txBody>
      </p:sp>
      <p:sp>
        <p:nvSpPr>
          <p:cNvPr id="6" name="Footer Placeholder 5"/>
          <p:cNvSpPr>
            <a:spLocks noGrp="1"/>
          </p:cNvSpPr>
          <p:nvPr>
            <p:ph type="ftr" sz="quarter" idx="11"/>
          </p:nvPr>
        </p:nvSpPr>
        <p:spPr>
          <a:xfrm>
            <a:off x="685800" y="379941"/>
            <a:ext cx="6991492" cy="365125"/>
          </a:xfrm>
        </p:spPr>
        <p:txBody>
          <a:bodyPr/>
          <a:lstStyle/>
          <a:p>
            <a:endParaRPr lang="es-419"/>
          </a:p>
        </p:txBody>
      </p:sp>
      <p:sp>
        <p:nvSpPr>
          <p:cNvPr id="7" name="Slide Number Placeholder 6"/>
          <p:cNvSpPr>
            <a:spLocks noGrp="1"/>
          </p:cNvSpPr>
          <p:nvPr>
            <p:ph type="sldNum" sz="quarter" idx="12"/>
          </p:nvPr>
        </p:nvSpPr>
        <p:spPr>
          <a:xfrm>
            <a:off x="10862452" y="381000"/>
            <a:ext cx="643748" cy="365125"/>
          </a:xfrm>
        </p:spPr>
        <p:txBody>
          <a:bodyPr/>
          <a:lstStyle/>
          <a:p>
            <a:fld id="{B3E966F8-71A3-471E-B186-CC3CC9EF3184}" type="slidenum">
              <a:rPr lang="es-419" smtClean="0"/>
              <a:t>‹Nº›</a:t>
            </a:fld>
            <a:endParaRPr lang="es-419"/>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25957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B11FF123-BADE-41E8-BD7B-06EEA19CA0A3}" type="datetimeFigureOut">
              <a:rPr lang="es-419" smtClean="0"/>
              <a:t>1/8/2022</a:t>
            </a:fld>
            <a:endParaRPr lang="es-419"/>
          </a:p>
        </p:txBody>
      </p:sp>
      <p:sp>
        <p:nvSpPr>
          <p:cNvPr id="6" name="Footer Placeholder 5"/>
          <p:cNvSpPr>
            <a:spLocks noGrp="1"/>
          </p:cNvSpPr>
          <p:nvPr>
            <p:ph type="ftr" sz="quarter" idx="11"/>
          </p:nvPr>
        </p:nvSpPr>
        <p:spPr>
          <a:xfrm>
            <a:off x="685800" y="378883"/>
            <a:ext cx="6991492" cy="365125"/>
          </a:xfrm>
        </p:spPr>
        <p:txBody>
          <a:bodyPr/>
          <a:lstStyle/>
          <a:p>
            <a:endParaRPr lang="es-419"/>
          </a:p>
        </p:txBody>
      </p:sp>
      <p:sp>
        <p:nvSpPr>
          <p:cNvPr id="7" name="Slide Number Placeholder 6"/>
          <p:cNvSpPr>
            <a:spLocks noGrp="1"/>
          </p:cNvSpPr>
          <p:nvPr>
            <p:ph type="sldNum" sz="quarter" idx="12"/>
          </p:nvPr>
        </p:nvSpPr>
        <p:spPr>
          <a:xfrm>
            <a:off x="10862452" y="381000"/>
            <a:ext cx="643748" cy="365125"/>
          </a:xfrm>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3373862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11FF123-BADE-41E8-BD7B-06EEA19CA0A3}" type="datetimeFigureOut">
              <a:rPr lang="es-419" smtClean="0"/>
              <a:t>1/8/2022</a:t>
            </a:fld>
            <a:endParaRPr lang="es-419"/>
          </a:p>
        </p:txBody>
      </p:sp>
      <p:sp>
        <p:nvSpPr>
          <p:cNvPr id="4" name="Footer Placeholder 3"/>
          <p:cNvSpPr>
            <a:spLocks noGrp="1"/>
          </p:cNvSpPr>
          <p:nvPr>
            <p:ph type="ftr" sz="quarter" idx="11"/>
          </p:nvPr>
        </p:nvSpPr>
        <p:spPr/>
        <p:txBody>
          <a:bodyPr/>
          <a:lstStyle/>
          <a:p>
            <a:endParaRPr lang="es-419"/>
          </a:p>
        </p:txBody>
      </p:sp>
      <p:sp>
        <p:nvSpPr>
          <p:cNvPr id="5" name="Slide Number Placeholder 4"/>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39772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11FF123-BADE-41E8-BD7B-06EEA19CA0A3}" type="datetimeFigureOut">
              <a:rPr lang="es-419" smtClean="0"/>
              <a:t>1/8/2022</a:t>
            </a:fld>
            <a:endParaRPr lang="es-419"/>
          </a:p>
        </p:txBody>
      </p:sp>
      <p:sp>
        <p:nvSpPr>
          <p:cNvPr id="4" name="Footer Placeholder 3"/>
          <p:cNvSpPr>
            <a:spLocks noGrp="1"/>
          </p:cNvSpPr>
          <p:nvPr>
            <p:ph type="ftr" sz="quarter" idx="11"/>
          </p:nvPr>
        </p:nvSpPr>
        <p:spPr/>
        <p:txBody>
          <a:bodyPr/>
          <a:lstStyle/>
          <a:p>
            <a:endParaRPr lang="es-419"/>
          </a:p>
        </p:txBody>
      </p:sp>
      <p:sp>
        <p:nvSpPr>
          <p:cNvPr id="5" name="Slide Number Placeholder 4"/>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1370500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11FF123-BADE-41E8-BD7B-06EEA19CA0A3}" type="datetimeFigureOut">
              <a:rPr lang="es-419" smtClean="0"/>
              <a:t>1/8/2022</a:t>
            </a:fld>
            <a:endParaRPr lang="es-419"/>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20912711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B11FF123-BADE-41E8-BD7B-06EEA19CA0A3}" type="datetimeFigureOut">
              <a:rPr lang="es-419" smtClean="0"/>
              <a:t>1/8/2022</a:t>
            </a:fld>
            <a:endParaRPr lang="es-419"/>
          </a:p>
        </p:txBody>
      </p:sp>
      <p:sp>
        <p:nvSpPr>
          <p:cNvPr id="5" name="Footer Placeholder 4"/>
          <p:cNvSpPr>
            <a:spLocks noGrp="1"/>
          </p:cNvSpPr>
          <p:nvPr>
            <p:ph type="ftr" sz="quarter" idx="11"/>
          </p:nvPr>
        </p:nvSpPr>
        <p:spPr>
          <a:xfrm>
            <a:off x="685800" y="381000"/>
            <a:ext cx="6991492" cy="365125"/>
          </a:xfrm>
        </p:spPr>
        <p:txBody>
          <a:bodyPr/>
          <a:lstStyle/>
          <a:p>
            <a:endParaRPr lang="es-419"/>
          </a:p>
        </p:txBody>
      </p:sp>
      <p:sp>
        <p:nvSpPr>
          <p:cNvPr id="6" name="Slide Number Placeholder 5"/>
          <p:cNvSpPr>
            <a:spLocks noGrp="1"/>
          </p:cNvSpPr>
          <p:nvPr>
            <p:ph type="sldNum" sz="quarter" idx="12"/>
          </p:nvPr>
        </p:nvSpPr>
        <p:spPr>
          <a:xfrm>
            <a:off x="10862452" y="381000"/>
            <a:ext cx="643748" cy="365125"/>
          </a:xfrm>
        </p:spPr>
        <p:txBody>
          <a:bodyPr/>
          <a:lstStyle/>
          <a:p>
            <a:fld id="{B3E966F8-71A3-471E-B186-CC3CC9EF3184}" type="slidenum">
              <a:rPr lang="es-419" smtClean="0"/>
              <a:t>‹Nº›</a:t>
            </a:fld>
            <a:endParaRPr lang="es-419"/>
          </a:p>
        </p:txBody>
      </p:sp>
    </p:spTree>
    <p:extLst>
      <p:ext uri="{BB962C8B-B14F-4D97-AF65-F5344CB8AC3E}">
        <p14:creationId xmlns:p14="http://schemas.microsoft.com/office/powerpoint/2010/main" val="69771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11FF123-BADE-41E8-BD7B-06EEA19CA0A3}" type="datetimeFigureOut">
              <a:rPr lang="es-419" smtClean="0"/>
              <a:t>1/8/2022</a:t>
            </a:fld>
            <a:endParaRPr lang="es-419"/>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s-419"/>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3E966F8-71A3-471E-B186-CC3CC9EF3184}" type="slidenum">
              <a:rPr lang="es-419" smtClean="0"/>
              <a:t>‹Nº›</a:t>
            </a:fld>
            <a:endParaRPr lang="es-419"/>
          </a:p>
        </p:txBody>
      </p:sp>
    </p:spTree>
    <p:extLst>
      <p:ext uri="{BB962C8B-B14F-4D97-AF65-F5344CB8AC3E}">
        <p14:creationId xmlns:p14="http://schemas.microsoft.com/office/powerpoint/2010/main" val="22207479"/>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Dbi7F3zx2hM?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51AA8A-B348-183D-38D8-80730E18A6CB}"/>
              </a:ext>
            </a:extLst>
          </p:cNvPr>
          <p:cNvSpPr>
            <a:spLocks noGrp="1"/>
          </p:cNvSpPr>
          <p:nvPr>
            <p:ph type="ctrTitle"/>
          </p:nvPr>
        </p:nvSpPr>
        <p:spPr>
          <a:xfrm>
            <a:off x="1530626" y="504692"/>
            <a:ext cx="9448800" cy="1825096"/>
          </a:xfrm>
        </p:spPr>
        <p:txBody>
          <a:bodyPr/>
          <a:lstStyle/>
          <a:p>
            <a:r>
              <a:rPr lang="es-ES" sz="4800" dirty="0">
                <a:effectLst/>
                <a:latin typeface="Arial" panose="020B0604020202020204" pitchFamily="34" charset="0"/>
                <a:ea typeface="Calibri" panose="020F0502020204030204" pitchFamily="34" charset="0"/>
                <a:cs typeface="Arial" panose="020B0604020202020204" pitchFamily="34" charset="0"/>
              </a:rPr>
              <a:t>Prueba de Caja Negra</a:t>
            </a:r>
            <a:br>
              <a:rPr lang="es-419" sz="1800" dirty="0">
                <a:effectLst/>
                <a:latin typeface="Calibri" panose="020F0502020204030204" pitchFamily="34" charset="0"/>
                <a:ea typeface="Calibri" panose="020F0502020204030204" pitchFamily="34" charset="0"/>
                <a:cs typeface="Times New Roman" panose="02020603050405020304" pitchFamily="18" charset="0"/>
              </a:rPr>
            </a:br>
            <a:endParaRPr lang="es-419" dirty="0"/>
          </a:p>
        </p:txBody>
      </p:sp>
      <p:sp>
        <p:nvSpPr>
          <p:cNvPr id="3" name="Subtítulo 2">
            <a:extLst>
              <a:ext uri="{FF2B5EF4-FFF2-40B4-BE49-F238E27FC236}">
                <a16:creationId xmlns:a16="http://schemas.microsoft.com/office/drawing/2014/main" id="{8637BB0D-371A-6E75-E1CF-913D145DC579}"/>
              </a:ext>
            </a:extLst>
          </p:cNvPr>
          <p:cNvSpPr>
            <a:spLocks noGrp="1"/>
          </p:cNvSpPr>
          <p:nvPr>
            <p:ph type="subTitle" idx="1"/>
          </p:nvPr>
        </p:nvSpPr>
        <p:spPr>
          <a:xfrm>
            <a:off x="1371600" y="2329788"/>
            <a:ext cx="9448800" cy="3289134"/>
          </a:xfrm>
        </p:spPr>
        <p:txBody>
          <a:bodyPr/>
          <a:lstStyle/>
          <a:p>
            <a:pPr algn="just">
              <a:lnSpc>
                <a:spcPct val="107000"/>
              </a:lnSpc>
              <a:spcAft>
                <a:spcPts val="800"/>
              </a:spcAft>
            </a:pPr>
            <a:r>
              <a:rPr lang="es-ES" sz="1800" dirty="0">
                <a:effectLst/>
                <a:latin typeface="Arial" panose="020B0604020202020204" pitchFamily="34" charset="0"/>
                <a:ea typeface="Calibri" panose="020F0502020204030204" pitchFamily="34" charset="0"/>
                <a:cs typeface="Arial" panose="020B0604020202020204" pitchFamily="34" charset="0"/>
              </a:rPr>
              <a:t>La </a:t>
            </a:r>
            <a:r>
              <a:rPr lang="es-419" sz="1800" b="0" dirty="0">
                <a:effectLst/>
                <a:latin typeface="Arial" panose="020B0604020202020204" pitchFamily="34" charset="0"/>
                <a:ea typeface="Calibri" panose="020F0502020204030204" pitchFamily="34" charset="0"/>
                <a:cs typeface="Arial" panose="020B0604020202020204" pitchFamily="34" charset="0"/>
              </a:rPr>
              <a:t>Prueba de caja negra</a:t>
            </a:r>
            <a:r>
              <a:rPr lang="es-419" sz="1800" dirty="0">
                <a:effectLst/>
                <a:latin typeface="Arial" panose="020B0604020202020204" pitchFamily="34" charset="0"/>
                <a:ea typeface="Calibri" panose="020F0502020204030204" pitchFamily="34" charset="0"/>
                <a:cs typeface="Arial" panose="020B0604020202020204" pitchFamily="34" charset="0"/>
              </a:rPr>
              <a:t> es una técnica de pruebas de software en la cual la funcionalidad se verifica sin tomar en cuenta la estructura interna de código, detalles de implementación o escenarios de ejecución internos en el software.</a:t>
            </a:r>
          </a:p>
          <a:p>
            <a:pPr algn="just">
              <a:lnSpc>
                <a:spcPct val="107000"/>
              </a:lnSpc>
              <a:spcAft>
                <a:spcPts val="800"/>
              </a:spcAft>
            </a:pPr>
            <a:r>
              <a:rPr lang="es-419" sz="1800" dirty="0">
                <a:effectLst/>
                <a:latin typeface="Arial" panose="020B0604020202020204" pitchFamily="34" charset="0"/>
                <a:ea typeface="Calibri" panose="020F0502020204030204" pitchFamily="34" charset="0"/>
                <a:cs typeface="Arial" panose="020B0604020202020204" pitchFamily="34" charset="0"/>
              </a:rPr>
              <a:t>El Black Box Testing se centra principalmente en la entrada y salida de una aplicación de software y se basa completamente en los requisitos y especificaciones del software. También se llama prueba de comportamiento.</a:t>
            </a:r>
          </a:p>
          <a:p>
            <a:endParaRPr lang="es-419" dirty="0"/>
          </a:p>
        </p:txBody>
      </p:sp>
    </p:spTree>
    <p:extLst>
      <p:ext uri="{BB962C8B-B14F-4D97-AF65-F5344CB8AC3E}">
        <p14:creationId xmlns:p14="http://schemas.microsoft.com/office/powerpoint/2010/main" val="811479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EA155F-A82F-CF7A-C4AB-3D1C1C0E85C9}"/>
              </a:ext>
            </a:extLst>
          </p:cNvPr>
          <p:cNvSpPr>
            <a:spLocks noGrp="1"/>
          </p:cNvSpPr>
          <p:nvPr>
            <p:ph type="title"/>
          </p:nvPr>
        </p:nvSpPr>
        <p:spPr>
          <a:xfrm>
            <a:off x="1371600" y="366808"/>
            <a:ext cx="8610600" cy="1293028"/>
          </a:xfrm>
        </p:spPr>
        <p:txBody>
          <a:bodyPr>
            <a:noAutofit/>
          </a:bodyPr>
          <a:lstStyle/>
          <a:p>
            <a:pPr algn="just"/>
            <a:r>
              <a:rPr lang="es-419" sz="3600" b="0" dirty="0">
                <a:effectLst/>
                <a:latin typeface="Arial" panose="020B0604020202020204" pitchFamily="34" charset="0"/>
                <a:ea typeface="Times New Roman" panose="02020603050405020304" pitchFamily="18" charset="0"/>
                <a:cs typeface="Arial" panose="020B0604020202020204" pitchFamily="34" charset="0"/>
              </a:rPr>
              <a:t>Cómo realizar una prueba de Blackbox</a:t>
            </a:r>
            <a:br>
              <a:rPr lang="es-419" sz="3600" b="1" dirty="0">
                <a:effectLst/>
                <a:latin typeface="Arial" panose="020B0604020202020204" pitchFamily="34" charset="0"/>
                <a:ea typeface="Times New Roman" panose="02020603050405020304" pitchFamily="18" charset="0"/>
                <a:cs typeface="Arial" panose="020B0604020202020204" pitchFamily="34" charset="0"/>
              </a:rPr>
            </a:br>
            <a:endParaRPr lang="es-419" sz="3600"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99A40B47-59CC-4DA4-5001-EE1BEA51222E}"/>
              </a:ext>
            </a:extLst>
          </p:cNvPr>
          <p:cNvSpPr>
            <a:spLocks noGrp="1"/>
          </p:cNvSpPr>
          <p:nvPr>
            <p:ph idx="1"/>
          </p:nvPr>
        </p:nvSpPr>
        <p:spPr/>
        <p:txBody>
          <a:bodyPr>
            <a:normAutofit fontScale="85000" lnSpcReduction="20000"/>
          </a:bodyPr>
          <a:lstStyle/>
          <a:p>
            <a:pPr fontAlgn="base">
              <a:lnSpc>
                <a:spcPct val="107000"/>
              </a:lnSpc>
              <a:spcAft>
                <a:spcPts val="1920"/>
              </a:spcAft>
            </a:pPr>
            <a:r>
              <a:rPr lang="es-419" sz="1800" dirty="0">
                <a:effectLst/>
                <a:latin typeface="Arial" panose="020B0604020202020204" pitchFamily="34" charset="0"/>
                <a:ea typeface="Times New Roman" panose="02020603050405020304" pitchFamily="18" charset="0"/>
                <a:cs typeface="Times New Roman" panose="02020603050405020304" pitchFamily="18" charset="0"/>
              </a:rPr>
              <a:t>Estos son los pasos genéricos a seguir para realizar cualquier tipo de prueba de caja negra.</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dirty="0">
                <a:effectLst/>
                <a:latin typeface="Arial" panose="020B0604020202020204" pitchFamily="34" charset="0"/>
                <a:ea typeface="Times New Roman" panose="02020603050405020304" pitchFamily="18" charset="0"/>
                <a:cs typeface="Times New Roman" panose="02020603050405020304" pitchFamily="18" charset="0"/>
              </a:rPr>
              <a:t>Primero, se examinan los requisitos y especificaciones del sistema.</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dirty="0">
                <a:effectLst/>
                <a:latin typeface="Arial" panose="020B0604020202020204" pitchFamily="34" charset="0"/>
                <a:ea typeface="Times New Roman" panose="02020603050405020304" pitchFamily="18" charset="0"/>
                <a:cs typeface="Times New Roman" panose="02020603050405020304" pitchFamily="18" charset="0"/>
              </a:rPr>
              <a:t>Un probador selecciona entradas válidas (caso de prueba positivo) para verificar si CÓMO las procesa correctamente. Además, se seleccionan algunas entradas no válidas (caso de prueba negativo) para verificar que el SUT puede detectarlas.</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dirty="0">
                <a:effectLst/>
                <a:latin typeface="Arial" panose="020B0604020202020204" pitchFamily="34" charset="0"/>
                <a:ea typeface="Times New Roman" panose="02020603050405020304" pitchFamily="18" charset="0"/>
                <a:cs typeface="Times New Roman" panose="02020603050405020304" pitchFamily="18" charset="0"/>
              </a:rPr>
              <a:t>El probador de salida esperada determina las expectativas de todas esas entradas.</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dirty="0">
                <a:effectLst/>
                <a:latin typeface="Arial" panose="020B0604020202020204" pitchFamily="34" charset="0"/>
                <a:ea typeface="Times New Roman" panose="02020603050405020304" pitchFamily="18" charset="0"/>
                <a:cs typeface="Times New Roman" panose="02020603050405020304" pitchFamily="18" charset="0"/>
              </a:rPr>
              <a:t>Un probador de software crea casos de prueba con las entradas seleccionadas.</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dirty="0">
                <a:effectLst/>
                <a:latin typeface="Arial" panose="020B0604020202020204" pitchFamily="34" charset="0"/>
                <a:ea typeface="Times New Roman" panose="02020603050405020304" pitchFamily="18" charset="0"/>
                <a:cs typeface="Times New Roman" panose="02020603050405020304" pitchFamily="18" charset="0"/>
              </a:rPr>
              <a:t>Se ejecutan los casos de prueba.</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dirty="0">
                <a:effectLst/>
                <a:latin typeface="Arial" panose="020B0604020202020204" pitchFamily="34" charset="0"/>
                <a:ea typeface="Times New Roman" panose="02020603050405020304" pitchFamily="18" charset="0"/>
                <a:cs typeface="Times New Roman" panose="02020603050405020304" pitchFamily="18" charset="0"/>
              </a:rPr>
              <a:t>Un probador de software compara los resultados reales y esperados.</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dirty="0">
                <a:effectLst/>
                <a:latin typeface="Arial" panose="020B0604020202020204" pitchFamily="34" charset="0"/>
                <a:ea typeface="Times New Roman" panose="02020603050405020304" pitchFamily="18" charset="0"/>
                <a:cs typeface="Times New Roman" panose="02020603050405020304" pitchFamily="18" charset="0"/>
              </a:rPr>
              <a:t>Los defectos, si los hay, se corrigen y se vuelven a probar.</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419" dirty="0"/>
          </a:p>
        </p:txBody>
      </p:sp>
    </p:spTree>
    <p:extLst>
      <p:ext uri="{BB962C8B-B14F-4D97-AF65-F5344CB8AC3E}">
        <p14:creationId xmlns:p14="http://schemas.microsoft.com/office/powerpoint/2010/main" val="2021911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7C532-6B2A-5A78-E15F-220DF5C3F7B7}"/>
              </a:ext>
            </a:extLst>
          </p:cNvPr>
          <p:cNvSpPr>
            <a:spLocks noGrp="1"/>
          </p:cNvSpPr>
          <p:nvPr>
            <p:ph type="title"/>
          </p:nvPr>
        </p:nvSpPr>
        <p:spPr>
          <a:xfrm>
            <a:off x="1994452" y="576265"/>
            <a:ext cx="8610600" cy="1293028"/>
          </a:xfrm>
        </p:spPr>
        <p:txBody>
          <a:bodyPr>
            <a:normAutofit/>
          </a:bodyPr>
          <a:lstStyle/>
          <a:p>
            <a:pPr algn="just"/>
            <a:r>
              <a:rPr lang="es-419" sz="3600" b="0" dirty="0">
                <a:effectLst/>
                <a:latin typeface="Arial" panose="020B0604020202020204" pitchFamily="34" charset="0"/>
                <a:ea typeface="Times New Roman" panose="02020603050405020304" pitchFamily="18" charset="0"/>
                <a:cs typeface="Arial" panose="020B0604020202020204" pitchFamily="34" charset="0"/>
              </a:rPr>
              <a:t>Tipos de prueba de caja negra</a:t>
            </a:r>
            <a:br>
              <a:rPr lang="es-419" sz="3600" b="1" dirty="0">
                <a:effectLst/>
                <a:latin typeface="Arial" panose="020B0604020202020204" pitchFamily="34" charset="0"/>
                <a:ea typeface="Times New Roman" panose="02020603050405020304" pitchFamily="18" charset="0"/>
                <a:cs typeface="Arial" panose="020B0604020202020204" pitchFamily="34" charset="0"/>
              </a:rPr>
            </a:br>
            <a:endParaRPr lang="es-419" sz="3600"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0CF4EF22-2642-2EA7-6E73-03E48431C1C5}"/>
              </a:ext>
            </a:extLst>
          </p:cNvPr>
          <p:cNvSpPr>
            <a:spLocks noGrp="1"/>
          </p:cNvSpPr>
          <p:nvPr>
            <p:ph idx="1"/>
          </p:nvPr>
        </p:nvSpPr>
        <p:spPr/>
        <p:txBody>
          <a:bodyPr/>
          <a:lstStyle/>
          <a:p>
            <a:pPr fontAlgn="base">
              <a:lnSpc>
                <a:spcPct val="107000"/>
              </a:lnSpc>
              <a:spcAft>
                <a:spcPts val="1920"/>
              </a:spcAft>
            </a:pPr>
            <a:r>
              <a:rPr lang="es-419" sz="1800" dirty="0">
                <a:effectLst/>
                <a:latin typeface="Arial" panose="020B0604020202020204" pitchFamily="34" charset="0"/>
                <a:ea typeface="Times New Roman" panose="02020603050405020304" pitchFamily="18" charset="0"/>
                <a:cs typeface="Arial" panose="020B0604020202020204" pitchFamily="34" charset="0"/>
              </a:rPr>
              <a:t>Hay muchos tipos de pruebas de caja negra, pero los siguientes son los más notables:</a:t>
            </a:r>
            <a:endParaRPr lang="es-419"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Arial" panose="020B0604020202020204" pitchFamily="34" charset="0"/>
              </a:rPr>
              <a:t>Pruebas funcionales</a:t>
            </a:r>
            <a:r>
              <a:rPr lang="es-419" sz="1800" dirty="0">
                <a:effectLst/>
                <a:latin typeface="Arial" panose="020B0604020202020204" pitchFamily="34" charset="0"/>
                <a:ea typeface="Times New Roman" panose="02020603050405020304" pitchFamily="18" charset="0"/>
                <a:cs typeface="Arial" panose="020B0604020202020204" pitchFamily="34" charset="0"/>
              </a:rPr>
              <a:t> – Este tipo de prueba de caja negra está relacionado con los requisitos funcionales del sistema; lo hacen probadores de software.</a:t>
            </a:r>
            <a:endParaRPr lang="es-419"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Arial" panose="020B0604020202020204" pitchFamily="34" charset="0"/>
              </a:rPr>
              <a:t>Prueba no funcional </a:t>
            </a:r>
            <a:r>
              <a:rPr lang="es-419" sz="1800" dirty="0">
                <a:effectLst/>
                <a:latin typeface="Arial" panose="020B0604020202020204" pitchFamily="34" charset="0"/>
                <a:ea typeface="Times New Roman" panose="02020603050405020304" pitchFamily="18" charset="0"/>
                <a:cs typeface="Arial" panose="020B0604020202020204" pitchFamily="34" charset="0"/>
              </a:rPr>
              <a:t>– Este tipo de prueba de caja negra no es una prueba de funcionalidad específica, sino de requisitos no funcionales como rendimiento, escalabilidad, usabilidad.</a:t>
            </a:r>
            <a:endParaRPr lang="es-419"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Arial" panose="020B0604020202020204" pitchFamily="34" charset="0"/>
              </a:rPr>
              <a:t>Test de regresión -</a:t>
            </a:r>
            <a:r>
              <a:rPr lang="es-419" sz="1800" dirty="0">
                <a:effectLst/>
                <a:latin typeface="Arial" panose="020B0604020202020204" pitchFamily="34" charset="0"/>
                <a:ea typeface="Times New Roman" panose="02020603050405020304" pitchFamily="18" charset="0"/>
                <a:cs typeface="Arial" panose="020B0604020202020204" pitchFamily="34" charset="0"/>
              </a:rPr>
              <a:t> Pruebas de regresión realizado después de la configuración de su código, actualizaciones o cualquier otro mantenimiento del sistema para verificar que el nuevo código no tenga ningún efecto en el código existente.</a:t>
            </a:r>
            <a:endParaRPr lang="es-419" sz="18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s-419" dirty="0"/>
          </a:p>
        </p:txBody>
      </p:sp>
    </p:spTree>
    <p:extLst>
      <p:ext uri="{BB962C8B-B14F-4D97-AF65-F5344CB8AC3E}">
        <p14:creationId xmlns:p14="http://schemas.microsoft.com/office/powerpoint/2010/main" val="3787274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E9C417-2C4E-5527-0D33-0A7E0789FAE3}"/>
              </a:ext>
            </a:extLst>
          </p:cNvPr>
          <p:cNvSpPr>
            <a:spLocks noGrp="1"/>
          </p:cNvSpPr>
          <p:nvPr>
            <p:ph type="title"/>
          </p:nvPr>
        </p:nvSpPr>
        <p:spPr>
          <a:xfrm>
            <a:off x="1790700" y="512582"/>
            <a:ext cx="8610600" cy="1293028"/>
          </a:xfrm>
        </p:spPr>
        <p:txBody>
          <a:bodyPr>
            <a:noAutofit/>
          </a:bodyPr>
          <a:lstStyle/>
          <a:p>
            <a:pPr algn="just"/>
            <a:r>
              <a:rPr lang="es-419" b="0" dirty="0">
                <a:effectLst/>
                <a:latin typeface="Arial" panose="020B0604020202020204" pitchFamily="34" charset="0"/>
                <a:ea typeface="Times New Roman" panose="02020603050405020304" pitchFamily="18" charset="0"/>
                <a:cs typeface="Arial" panose="020B0604020202020204" pitchFamily="34" charset="0"/>
              </a:rPr>
              <a:t>Técnicas de prueba de caja negra</a:t>
            </a:r>
            <a:br>
              <a:rPr lang="es-419" b="1" dirty="0">
                <a:effectLst/>
                <a:latin typeface="Arial" panose="020B0604020202020204" pitchFamily="34" charset="0"/>
                <a:ea typeface="Times New Roman" panose="02020603050405020304" pitchFamily="18" charset="0"/>
                <a:cs typeface="Arial" panose="020B0604020202020204" pitchFamily="34" charset="0"/>
              </a:rPr>
            </a:br>
            <a:endParaRPr lang="es-419"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EB2604E2-8FF4-A3DE-7762-59FFAE4DF28D}"/>
              </a:ext>
            </a:extLst>
          </p:cNvPr>
          <p:cNvSpPr>
            <a:spLocks noGrp="1"/>
          </p:cNvSpPr>
          <p:nvPr>
            <p:ph idx="1"/>
          </p:nvPr>
        </p:nvSpPr>
        <p:spPr/>
        <p:txBody>
          <a:bodyPr/>
          <a:lstStyle/>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Arial" panose="020B0604020202020204" pitchFamily="34" charset="0"/>
              </a:rPr>
              <a:t>Prueba de clase de equivalencia:</a:t>
            </a:r>
            <a:r>
              <a:rPr lang="es-419" sz="1800" dirty="0">
                <a:effectLst/>
                <a:latin typeface="Arial" panose="020B0604020202020204" pitchFamily="34" charset="0"/>
                <a:ea typeface="Times New Roman" panose="02020603050405020304" pitchFamily="18" charset="0"/>
                <a:cs typeface="Arial" panose="020B0604020202020204" pitchFamily="34" charset="0"/>
              </a:rPr>
              <a:t> Se utiliza para minimizar el número de casos de prueba potenciales al nivel óptimo mientras se mantiene una cobertura de prueba razonable.</a:t>
            </a:r>
            <a:endParaRPr lang="es-419"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Arial" panose="020B0604020202020204" pitchFamily="34" charset="0"/>
              </a:rPr>
              <a:t>Prueba de valor límite:</a:t>
            </a:r>
            <a:r>
              <a:rPr lang="es-419" sz="1800" dirty="0">
                <a:effectLst/>
                <a:latin typeface="Arial" panose="020B0604020202020204" pitchFamily="34" charset="0"/>
                <a:ea typeface="Times New Roman" panose="02020603050405020304" pitchFamily="18" charset="0"/>
                <a:cs typeface="Arial" panose="020B0604020202020204" pitchFamily="34" charset="0"/>
              </a:rPr>
              <a:t> La prueba de valor límite se centra en los valores en los límites. Esta técnica determina si el sistema tiene un cierto rango de valores aceptables. Es muy útil para reducir el número de casos de prueba. Es muy adecuado para sistemas donde la entrada está dentro de ciertos rangos.</a:t>
            </a:r>
            <a:endParaRPr lang="es-419"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Arial" panose="020B0604020202020204" pitchFamily="34" charset="0"/>
              </a:rPr>
              <a:t>Prueba de tabla de determinación</a:t>
            </a:r>
            <a:r>
              <a:rPr lang="es-419" sz="1800" dirty="0">
                <a:effectLst/>
                <a:latin typeface="Arial" panose="020B0604020202020204" pitchFamily="34" charset="0"/>
                <a:ea typeface="Times New Roman" panose="02020603050405020304" pitchFamily="18" charset="0"/>
                <a:cs typeface="Arial" panose="020B0604020202020204" pitchFamily="34" charset="0"/>
              </a:rPr>
              <a:t>: Una tabla de decisiones coloca las causas y sus efectos en una matriz. Cada columna contiene una combinación única.</a:t>
            </a:r>
            <a:endParaRPr lang="es-419" sz="1800" dirty="0">
              <a:effectLst/>
              <a:latin typeface="Arial" panose="020B0604020202020204" pitchFamily="34" charset="0"/>
              <a:ea typeface="Calibri" panose="020F0502020204030204" pitchFamily="34" charset="0"/>
              <a:cs typeface="Arial" panose="020B0604020202020204" pitchFamily="34" charset="0"/>
            </a:endParaRPr>
          </a:p>
          <a:p>
            <a:endParaRPr lang="es-419" dirty="0"/>
          </a:p>
        </p:txBody>
      </p:sp>
    </p:spTree>
    <p:extLst>
      <p:ext uri="{BB962C8B-B14F-4D97-AF65-F5344CB8AC3E}">
        <p14:creationId xmlns:p14="http://schemas.microsoft.com/office/powerpoint/2010/main" val="1846759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817AEA-1906-730A-BB25-1F23BBEAC050}"/>
              </a:ext>
            </a:extLst>
          </p:cNvPr>
          <p:cNvSpPr>
            <a:spLocks noGrp="1"/>
          </p:cNvSpPr>
          <p:nvPr>
            <p:ph type="title"/>
          </p:nvPr>
        </p:nvSpPr>
        <p:spPr>
          <a:xfrm>
            <a:off x="1258957" y="764373"/>
            <a:ext cx="10247243" cy="1293028"/>
          </a:xfrm>
        </p:spPr>
        <p:txBody>
          <a:bodyPr>
            <a:noAutofit/>
          </a:bodyPr>
          <a:lstStyle/>
          <a:p>
            <a:pPr algn="just"/>
            <a:r>
              <a:rPr lang="es-419" b="0" dirty="0">
                <a:effectLst/>
                <a:latin typeface="Arial" panose="020B0604020202020204" pitchFamily="34" charset="0"/>
                <a:ea typeface="Times New Roman" panose="02020603050405020304" pitchFamily="18" charset="0"/>
                <a:cs typeface="Arial" panose="020B0604020202020204" pitchFamily="34" charset="0"/>
              </a:rPr>
              <a:t>Ciclo de vida de prueba de caja negra y desarrollo de software (SDLC)</a:t>
            </a:r>
            <a:br>
              <a:rPr lang="es-419" b="1" dirty="0">
                <a:effectLst/>
                <a:latin typeface="Arial" panose="020B0604020202020204" pitchFamily="34" charset="0"/>
                <a:ea typeface="Times New Roman" panose="02020603050405020304" pitchFamily="18" charset="0"/>
                <a:cs typeface="Arial" panose="020B0604020202020204" pitchFamily="34" charset="0"/>
              </a:rPr>
            </a:br>
            <a:endParaRPr lang="es-419"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99F253EF-FA95-2872-5C23-3724E09D3792}"/>
              </a:ext>
            </a:extLst>
          </p:cNvPr>
          <p:cNvSpPr>
            <a:spLocks noGrp="1"/>
          </p:cNvSpPr>
          <p:nvPr>
            <p:ph idx="1"/>
          </p:nvPr>
        </p:nvSpPr>
        <p:spPr/>
        <p:txBody>
          <a:bodyPr>
            <a:normAutofit lnSpcReduction="10000"/>
          </a:bodyPr>
          <a:lstStyle/>
          <a:p>
            <a:pPr marL="0" indent="0" fontAlgn="base">
              <a:lnSpc>
                <a:spcPct val="107000"/>
              </a:lnSpc>
              <a:spcAft>
                <a:spcPts val="1920"/>
              </a:spcAft>
              <a:buNone/>
            </a:pPr>
            <a:r>
              <a:rPr lang="es-419" sz="1800" dirty="0">
                <a:effectLst/>
                <a:latin typeface="Arial" panose="020B0604020202020204" pitchFamily="34" charset="0"/>
                <a:ea typeface="Times New Roman" panose="02020603050405020304" pitchFamily="18" charset="0"/>
                <a:cs typeface="Times New Roman" panose="02020603050405020304" pitchFamily="18" charset="0"/>
              </a:rPr>
              <a:t>Probar una caja negra llamada Ciclo de vida de prueba de software tiene su propio ciclo de vida (STLC) y es relativo a cada etapa del ciclo de vida del desarrollo de software de ingeniería de software.</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Times New Roman" panose="02020603050405020304" pitchFamily="18" charset="0"/>
              </a:rPr>
              <a:t>Requisito</a:t>
            </a:r>
            <a:r>
              <a:rPr lang="es-419" sz="1800" dirty="0">
                <a:effectLst/>
                <a:latin typeface="Arial" panose="020B0604020202020204" pitchFamily="34" charset="0"/>
                <a:ea typeface="Times New Roman" panose="02020603050405020304" pitchFamily="18" charset="0"/>
                <a:cs typeface="Times New Roman" panose="02020603050405020304" pitchFamily="18" charset="0"/>
              </a:rPr>
              <a:t> – Este es el primer paso de SDLC y en este paso, se recopila un requisito. Los probadores de software también participan en esta fase.</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Times New Roman" panose="02020603050405020304" pitchFamily="18" charset="0"/>
              </a:rPr>
              <a:t>Análisis y planificación de pruebas</a:t>
            </a:r>
            <a:r>
              <a:rPr lang="es-419" sz="1800" dirty="0">
                <a:effectLst/>
                <a:latin typeface="Arial" panose="020B0604020202020204" pitchFamily="34" charset="0"/>
                <a:ea typeface="Times New Roman" panose="02020603050405020304" pitchFamily="18" charset="0"/>
                <a:cs typeface="Times New Roman" panose="02020603050405020304" pitchFamily="18" charset="0"/>
              </a:rPr>
              <a:t> – Tipos de prueba se determina que es aplicable al proyecto. UNA. Plan de Prueba se crea que determina los riesgos potenciales de un proyecto y su mitigación.</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Times New Roman" panose="02020603050405020304" pitchFamily="18" charset="0"/>
              </a:rPr>
              <a:t>Diseño</a:t>
            </a:r>
            <a:r>
              <a:rPr lang="es-419" sz="1800" dirty="0">
                <a:effectLst/>
                <a:latin typeface="Arial" panose="020B0604020202020204" pitchFamily="34" charset="0"/>
                <a:ea typeface="Times New Roman" panose="02020603050405020304" pitchFamily="18" charset="0"/>
                <a:cs typeface="Times New Roman" panose="02020603050405020304" pitchFamily="18" charset="0"/>
              </a:rPr>
              <a:t> – En este paso, los casos de prueba / scripts se crean sobre la base del documento de requisitos de software.</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s-419" sz="1800" b="1" dirty="0">
                <a:effectLst/>
                <a:latin typeface="Arial" panose="020B0604020202020204" pitchFamily="34" charset="0"/>
                <a:ea typeface="Times New Roman" panose="02020603050405020304" pitchFamily="18" charset="0"/>
                <a:cs typeface="Times New Roman" panose="02020603050405020304" pitchFamily="18" charset="0"/>
              </a:rPr>
              <a:t>Ejecución de pruebas</a:t>
            </a:r>
            <a:r>
              <a:rPr lang="es-419" sz="1800" dirty="0">
                <a:effectLst/>
                <a:latin typeface="Arial" panose="020B0604020202020204" pitchFamily="34" charset="0"/>
                <a:ea typeface="Times New Roman" panose="02020603050405020304" pitchFamily="18" charset="0"/>
                <a:cs typeface="Times New Roman" panose="02020603050405020304" pitchFamily="18" charset="0"/>
              </a:rPr>
              <a:t>– En este paso se ejecutan los Casos de Prueba preparados. Las fallas, si las hay, se corrigen y se vuelven a probar.</a:t>
            </a: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endParaRPr lang="es-419"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419" dirty="0"/>
          </a:p>
        </p:txBody>
      </p:sp>
    </p:spTree>
    <p:extLst>
      <p:ext uri="{BB962C8B-B14F-4D97-AF65-F5344CB8AC3E}">
        <p14:creationId xmlns:p14="http://schemas.microsoft.com/office/powerpoint/2010/main" val="2167598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35434C3-CE69-8BEE-4796-24F9C1ABEE58}"/>
              </a:ext>
            </a:extLst>
          </p:cNvPr>
          <p:cNvSpPr>
            <a:spLocks noGrp="1"/>
          </p:cNvSpPr>
          <p:nvPr>
            <p:ph idx="1"/>
          </p:nvPr>
        </p:nvSpPr>
        <p:spPr>
          <a:xfrm>
            <a:off x="778566" y="1028369"/>
            <a:ext cx="10820400" cy="4024125"/>
          </a:xfrm>
        </p:spPr>
        <p:txBody>
          <a:bodyPr/>
          <a:lstStyle/>
          <a:p>
            <a:pPr marL="0" indent="0" algn="ctr">
              <a:buNone/>
            </a:pPr>
            <a:endParaRPr lang="es-419" dirty="0"/>
          </a:p>
          <a:p>
            <a:pPr marL="0" indent="0" algn="ctr">
              <a:buNone/>
            </a:pPr>
            <a:endParaRPr lang="es-419" dirty="0"/>
          </a:p>
          <a:p>
            <a:pPr marL="0" indent="0" algn="ctr">
              <a:buNone/>
            </a:pPr>
            <a:endParaRPr lang="es-419" dirty="0"/>
          </a:p>
          <a:p>
            <a:pPr marL="0" indent="0" algn="ctr">
              <a:buNone/>
            </a:pPr>
            <a:endParaRPr lang="es-419" dirty="0"/>
          </a:p>
        </p:txBody>
      </p:sp>
      <p:pic>
        <p:nvPicPr>
          <p:cNvPr id="4" name="Elementos multimedia en línea 3" title="Pruebas de Software y testing de caja negra">
            <a:hlinkClick r:id="" action="ppaction://media"/>
            <a:extLst>
              <a:ext uri="{FF2B5EF4-FFF2-40B4-BE49-F238E27FC236}">
                <a16:creationId xmlns:a16="http://schemas.microsoft.com/office/drawing/2014/main" id="{A2433D9E-5DCA-89C7-E1B5-9AE317D3DB72}"/>
              </a:ext>
            </a:extLst>
          </p:cNvPr>
          <p:cNvPicPr>
            <a:picLocks noRot="1" noChangeAspect="1"/>
          </p:cNvPicPr>
          <p:nvPr>
            <a:videoFile r:link="rId1"/>
          </p:nvPr>
        </p:nvPicPr>
        <p:blipFill>
          <a:blip r:embed="rId3"/>
          <a:stretch>
            <a:fillRect/>
          </a:stretch>
        </p:blipFill>
        <p:spPr>
          <a:xfrm>
            <a:off x="1075633" y="469106"/>
            <a:ext cx="9102036" cy="5142650"/>
          </a:xfrm>
          <a:prstGeom prst="rect">
            <a:avLst/>
          </a:prstGeom>
        </p:spPr>
      </p:pic>
    </p:spTree>
    <p:extLst>
      <p:ext uri="{BB962C8B-B14F-4D97-AF65-F5344CB8AC3E}">
        <p14:creationId xmlns:p14="http://schemas.microsoft.com/office/powerpoint/2010/main" val="106599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Estela de condensación">
  <a:themeElements>
    <a:clrScheme name="Estela de condensación">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Estela de condensació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tela de condensació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TM04033937[[fn=Estela de condensación]]</Template>
  <TotalTime>85</TotalTime>
  <Words>632</Words>
  <Application>Microsoft Office PowerPoint</Application>
  <PresentationFormat>Panorámica</PresentationFormat>
  <Paragraphs>29</Paragraphs>
  <Slides>6</Slides>
  <Notes>0</Notes>
  <HiddenSlides>0</HiddenSlides>
  <MMClips>1</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Calibri</vt:lpstr>
      <vt:lpstr>Century Gothic</vt:lpstr>
      <vt:lpstr>Symbol</vt:lpstr>
      <vt:lpstr>Estela de condensación</vt:lpstr>
      <vt:lpstr>Prueba de Caja Negra </vt:lpstr>
      <vt:lpstr>Cómo realizar una prueba de Blackbox </vt:lpstr>
      <vt:lpstr>Tipos de prueba de caja negra </vt:lpstr>
      <vt:lpstr>Técnicas de prueba de caja negra </vt:lpstr>
      <vt:lpstr>Ciclo de vida de prueba de caja negra y desarrollo de software (SDLC)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Prueba de Caja Negra </dc:title>
  <dc:creator>OSCAR ANDREY ARIAS</dc:creator>
  <cp:lastModifiedBy>OSCAR ANDREY ARIAS</cp:lastModifiedBy>
  <cp:revision>2</cp:revision>
  <dcterms:created xsi:type="dcterms:W3CDTF">2022-08-01T22:06:05Z</dcterms:created>
  <dcterms:modified xsi:type="dcterms:W3CDTF">2022-08-01T23:31:46Z</dcterms:modified>
</cp:coreProperties>
</file>